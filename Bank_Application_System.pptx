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4" r:id="rId1"/>
  </p:sldMasterIdLst>
  <p:notesMasterIdLst>
    <p:notesMasterId r:id="rId13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3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64592" cy="16459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3F417-5473-43B7-8CCB-6804102F2AD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810DA-F3AF-4518-840C-7A6A866997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40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8/9/2026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35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74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82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69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8/9/2026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31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34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55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266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6DFF08F-DC6B-4601-B491-B0F83F6DD2DA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47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5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2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8/9/2026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286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C2653B8-378D-7FC4-2182-93FAAE021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288" y="0"/>
            <a:ext cx="2485833" cy="795131"/>
          </a:xfrm>
          <a:prstGeom prst="rect">
            <a:avLst/>
          </a:prstGeom>
        </p:spPr>
      </p:pic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6C406527-1E9E-AD98-E21F-FB2FD3D4D91B}"/>
              </a:ext>
            </a:extLst>
          </p:cNvPr>
          <p:cNvSpPr/>
          <p:nvPr/>
        </p:nvSpPr>
        <p:spPr>
          <a:xfrm>
            <a:off x="-1278118" y="-686932"/>
            <a:ext cx="2398992" cy="1758647"/>
          </a:xfrm>
          <a:prstGeom prst="donut">
            <a:avLst>
              <a:gd name="adj" fmla="val 24993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9098B1-422B-613B-C776-9388B347525D}"/>
              </a:ext>
            </a:extLst>
          </p:cNvPr>
          <p:cNvSpPr/>
          <p:nvPr/>
        </p:nvSpPr>
        <p:spPr>
          <a:xfrm>
            <a:off x="1275961" y="362005"/>
            <a:ext cx="8111613" cy="1405467"/>
          </a:xfrm>
          <a:prstGeom prst="rect">
            <a:avLst/>
          </a:prstGeom>
          <a:solidFill>
            <a:schemeClr val="accent4">
              <a:lumMod val="75000"/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800"/>
              </a:lnSpc>
            </a:pPr>
            <a:r>
              <a:rPr lang="en-US" sz="4400" b="1" dirty="0">
                <a:solidFill>
                  <a:schemeClr val="bg1"/>
                </a:solidFill>
              </a:rPr>
              <a:t>Bank  Application</a:t>
            </a:r>
          </a:p>
          <a:p>
            <a:pPr algn="ctr">
              <a:lnSpc>
                <a:spcPts val="4800"/>
              </a:lnSpc>
            </a:pPr>
            <a:r>
              <a:rPr lang="en-US" sz="4400" b="1" dirty="0">
                <a:solidFill>
                  <a:schemeClr val="bg1"/>
                </a:solidFill>
              </a:rPr>
              <a:t>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EEF063-C627-C3F1-CB80-DD50E2B521A7}"/>
              </a:ext>
            </a:extLst>
          </p:cNvPr>
          <p:cNvSpPr txBox="1"/>
          <p:nvPr/>
        </p:nvSpPr>
        <p:spPr>
          <a:xfrm>
            <a:off x="612061" y="2460443"/>
            <a:ext cx="699565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KACHHADIYA MEET JAYANTIBHAI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24002171910010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BHINGRADIYA YUG NITINBHAI     				24002171310008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HET PUJARA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24002171310044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EC9227-FB86-7876-6A11-86241D28A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53" y="3989197"/>
            <a:ext cx="5473608" cy="286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40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42D0-F1AB-0B41-EEAE-65E2B4EE1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41" y="775181"/>
            <a:ext cx="7729728" cy="948775"/>
          </a:xfrm>
          <a:solidFill>
            <a:schemeClr val="accent4">
              <a:lumMod val="75000"/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31A4E-638F-F884-D71E-97FF4EAB6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341" y="2038350"/>
            <a:ext cx="9940413" cy="4819650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The system allows users to create and manage bank accounts efficiently.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Users can perform transactions such as deposit, withdrawal, and fund transfer.</a:t>
            </a:r>
          </a:p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It maintains a structured database to store account, transaction, and loan details.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This ensures secure data storage and proper record management.</a:t>
            </a:r>
          </a:p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The application provides OTP-based authentication for enhanced security.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This prevents unauthorized access and protects sensitive user information.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The system also includes loan management and EMI calculation features.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It helps users track loan status, repayment details, and interest calculation.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A0C2D-35D7-6482-75A7-406A31522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839" y="-19950"/>
            <a:ext cx="2485833" cy="79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7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BAF86-7F71-E701-A0E4-EEEA8E8D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111" y="870463"/>
            <a:ext cx="7729728" cy="1047750"/>
          </a:xfrm>
          <a:solidFill>
            <a:schemeClr val="accent4">
              <a:lumMod val="75000"/>
              <a:alpha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FD209-E396-BFDB-BE70-A9B0B2832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5774" y="2209801"/>
            <a:ext cx="8188599" cy="4308986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To implement Object-Oriented Programming concepts in a real-world application.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The project uses classes and methods to manage accounts and loans efficiently.</a:t>
            </a:r>
          </a:p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To integrate Python with MySQL database.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This ensures proper data storage, retrieval, and transaction management.</a:t>
            </a:r>
          </a:p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To simulate real banking operations.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The system performs financial calculations like interest and EMI.</a:t>
            </a:r>
          </a:p>
          <a:p>
            <a:pPr>
              <a:buClr>
                <a:schemeClr val="bg1"/>
              </a:buClr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B3998E-FC80-8900-29C5-A64F30A83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839" y="-19950"/>
            <a:ext cx="2485833" cy="79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5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2CA7-5D8E-9C9C-0787-D0F1D31C6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5278" y="886033"/>
            <a:ext cx="7729728" cy="1188720"/>
          </a:xfrm>
          <a:solidFill>
            <a:schemeClr val="accent4">
              <a:lumMod val="75000"/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20D89-8CAC-872A-494E-D89A7613F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5278" y="2397841"/>
            <a:ext cx="9429134" cy="3741273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Python Programming Language 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Python is used to build the core logic and implement OOP concepts.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It handles user input, calculations, and database interaction.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MySQL Database 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MySQL stores account details, transactions, and loan records securely.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It ensures data integrity using primary and foreign keys.</a:t>
            </a:r>
            <a:endParaRPr lang="en-IN" sz="24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EF8FA-8518-AC98-5010-D02B18287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839" y="-19950"/>
            <a:ext cx="2485833" cy="79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1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513C-1F0A-8D4D-09E4-3E3DB719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2144" y="925364"/>
            <a:ext cx="7729728" cy="1188720"/>
          </a:xfrm>
          <a:solidFill>
            <a:schemeClr val="accent4">
              <a:lumMod val="75000"/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B6070-0F31-021A-2D1A-379C95AEC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488" y="2451232"/>
            <a:ext cx="8928477" cy="4087221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Accounts Table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Stores account number, name, balance, PIN, account type, and interest rate.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Account number acts as the primary key for unique identification.</a:t>
            </a:r>
          </a:p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Transactions Table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Records all deposits, withdrawals, transfers, and loan repayments.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It maintains transaction history with timestamps.</a:t>
            </a:r>
          </a:p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Loans Table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Stores loan type, loan amount, tenure, interest rate, and status.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It tracks remaining amount until the loan is fully paid.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63827-1A56-67D9-27BB-AB42AA937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07" y="-19950"/>
            <a:ext cx="2485833" cy="79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34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9FEEC-135E-C46F-F01E-641B9692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40333"/>
          </a:xfrm>
          <a:solidFill>
            <a:schemeClr val="accent4">
              <a:lumMod val="75000"/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Account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383CB-3754-34E7-E6E3-2064E4A41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4"/>
            <a:ext cx="9233277" cy="4018395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Registration with OTP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Users must verify their identity using a one-time password.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This adds an extra security layer during account creation.</a:t>
            </a:r>
          </a:p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Deposit and Withdrawal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Users can deposit or withdraw money securely.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A penalty is applied if the balance falls below the minimum limit.</a:t>
            </a:r>
          </a:p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Money Transfer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Users can transfer funds between accounts.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The system updates both sender and receiver balances automatically.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E220E-30F2-232D-A1FD-AA822378A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07" y="-19950"/>
            <a:ext cx="2485833" cy="79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0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7AC2-31E0-9FCA-D534-53831DD29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74524"/>
            <a:ext cx="7729728" cy="1188720"/>
          </a:xfrm>
          <a:solidFill>
            <a:schemeClr val="accent4">
              <a:lumMod val="75000"/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Loan and EMI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4129F-4C10-E667-2D63-DB06172B0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5" y="2638044"/>
            <a:ext cx="8888360" cy="4087221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Loan Application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Users can apply for Home, Gold, or Personal loans.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Each loan type has a predefined interest rate.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EMI Calculation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The system calculates EMI using the standard mathematical formula.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EMI depends on loan amount, interest rate, and tenure.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Loan Repayment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EMI is deducted from the account balance.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Loan status changes to “Paid” when the amount becomes zero.</a:t>
            </a:r>
          </a:p>
          <a:p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E3D920-47C8-F944-9A4B-4769AB0D0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07" y="-19950"/>
            <a:ext cx="2485833" cy="79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4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7A19-AFCB-4F99-402C-06C9D0F4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181" y="631109"/>
            <a:ext cx="7729728" cy="1247775"/>
          </a:xfrm>
          <a:solidFill>
            <a:schemeClr val="accent4">
              <a:lumMod val="75000"/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Additional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C6527-95AA-389A-8B26-ACEDE9E42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661" y="2028825"/>
            <a:ext cx="7729728" cy="382905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 Calculation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Savings account holders receive 3.2% annual interest.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The interest amount is automatically added to the balance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Transaction Visualization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A pie chart displays transaction distribution.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It helps users analyze spending and deposits visually.</a:t>
            </a:r>
          </a:p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Passbook Generation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A text file is created automatically for each account.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It records complete transaction history with timestamps.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FE329A-0B0E-A120-B21A-0B11741B0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839" y="-19950"/>
            <a:ext cx="2485833" cy="79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4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693AA-40BD-EC99-9296-BF20B97DC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241" y="736956"/>
            <a:ext cx="7729728" cy="1633537"/>
          </a:xfrm>
          <a:solidFill>
            <a:schemeClr val="accent4">
              <a:lumMod val="75000"/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Advantages and Limitations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73215-4017-06A0-DAFF-1EC9EE159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57475"/>
            <a:ext cx="7729728" cy="3340202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Advantages: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The system ensures secure OTP authentication.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It maintains accurate transaction records and loan tracking</a:t>
            </a:r>
          </a:p>
          <a:p>
            <a:pPr>
              <a:buClr>
                <a:schemeClr val="bg1"/>
              </a:buClr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Limitations: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The application is console-based and lacks a graphical interface.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OTP is simulated and not sent via real SMS service.</a:t>
            </a:r>
          </a:p>
          <a:p>
            <a:pPr>
              <a:buClr>
                <a:schemeClr val="bg1"/>
              </a:buClr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F28C6-7CB6-AD33-7C3C-88FF5D1A4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5" y="4181474"/>
            <a:ext cx="2238375" cy="26765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B5D169-07B3-7D1A-0A8E-3A824B87A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839" y="-19950"/>
            <a:ext cx="2485833" cy="79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31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F2A7-ADD5-E4B1-542C-268EB163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936" y="1031367"/>
            <a:ext cx="7729728" cy="1188720"/>
          </a:xfrm>
          <a:solidFill>
            <a:schemeClr val="accent4">
              <a:lumMod val="75000"/>
              <a:alpha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89A68-F8B7-1852-DC7F-B6EB54E2F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168" y="2383895"/>
            <a:ext cx="7729728" cy="39052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The Banking Management System successfully demonstrates database integration and OOP implementation.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It performs real-world banking operations like transactions, loans, and interest calculation.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The project shows practical understanding of financial logic and secure system design.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FC780-4775-2938-90D2-E4ACCB1CB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896" y="2490802"/>
            <a:ext cx="2526104" cy="17081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F51179-6A5F-BD95-F344-DF606CE27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007" y="-19950"/>
            <a:ext cx="2485833" cy="79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64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742D98-1CB8-47D5-9863-CF67D90A4170}"/>
              </a:ext>
            </a:extLst>
          </p:cNvPr>
          <p:cNvSpPr txBox="1"/>
          <p:nvPr/>
        </p:nvSpPr>
        <p:spPr>
          <a:xfrm>
            <a:off x="2605547" y="2875002"/>
            <a:ext cx="649912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spc="300" dirty="0">
                <a:solidFill>
                  <a:schemeClr val="bg1"/>
                </a:solidFill>
                <a:latin typeface="Bell MT" panose="02020503060305020303" pitchFamily="18" charset="0"/>
              </a:rPr>
              <a:t>Thank You</a:t>
            </a:r>
            <a:endParaRPr lang="en-IN" sz="6600" b="1" spc="3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8" name="Circle: Hollow 7">
            <a:extLst>
              <a:ext uri="{FF2B5EF4-FFF2-40B4-BE49-F238E27FC236}">
                <a16:creationId xmlns:a16="http://schemas.microsoft.com/office/drawing/2014/main" id="{22B9D0B2-A2F4-8EEC-CB14-314AD3AFAD3A}"/>
              </a:ext>
            </a:extLst>
          </p:cNvPr>
          <p:cNvSpPr/>
          <p:nvPr/>
        </p:nvSpPr>
        <p:spPr>
          <a:xfrm>
            <a:off x="11284299" y="6021063"/>
            <a:ext cx="1336431" cy="1213750"/>
          </a:xfrm>
          <a:prstGeom prst="donu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EF4EE973-D601-19DD-5A57-73C36846B04D}"/>
              </a:ext>
            </a:extLst>
          </p:cNvPr>
          <p:cNvSpPr/>
          <p:nvPr/>
        </p:nvSpPr>
        <p:spPr>
          <a:xfrm>
            <a:off x="-450501" y="6021063"/>
            <a:ext cx="1336431" cy="1213750"/>
          </a:xfrm>
          <a:prstGeom prst="donu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B38D1BBF-6A36-0C03-8648-049C686AD243}"/>
              </a:ext>
            </a:extLst>
          </p:cNvPr>
          <p:cNvSpPr/>
          <p:nvPr/>
        </p:nvSpPr>
        <p:spPr>
          <a:xfrm>
            <a:off x="-450502" y="-378062"/>
            <a:ext cx="1336431" cy="1213750"/>
          </a:xfrm>
          <a:prstGeom prst="donu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C9A1B6-7F59-6B88-6441-1A7B61309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839" y="-19950"/>
            <a:ext cx="2485833" cy="79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1495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623</TotalTime>
  <Words>651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Bell MT</vt:lpstr>
      <vt:lpstr>Calibri</vt:lpstr>
      <vt:lpstr>Gill Sans MT</vt:lpstr>
      <vt:lpstr>Parcel</vt:lpstr>
      <vt:lpstr>PowerPoint Presentation</vt:lpstr>
      <vt:lpstr>Introduction</vt:lpstr>
      <vt:lpstr>Objectives</vt:lpstr>
      <vt:lpstr>Technologies Used</vt:lpstr>
      <vt:lpstr>Database Design</vt:lpstr>
      <vt:lpstr>Account Features</vt:lpstr>
      <vt:lpstr>Loan and EMI System</vt:lpstr>
      <vt:lpstr>Additional Functionalities</vt:lpstr>
      <vt:lpstr>Advantages and Limitations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Meet Kachhadiya</dc:creator>
  <cp:lastModifiedBy>Meet Kachhadiya</cp:lastModifiedBy>
  <cp:revision>21</cp:revision>
  <dcterms:created xsi:type="dcterms:W3CDTF">2026-02-09T08:12:50Z</dcterms:created>
  <dcterms:modified xsi:type="dcterms:W3CDTF">2026-08-09T09:41:56Z</dcterms:modified>
</cp:coreProperties>
</file>